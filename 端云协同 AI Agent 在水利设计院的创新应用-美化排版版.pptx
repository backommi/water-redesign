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核心框架设计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安全优先的端云协同架构设计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E3A8A"/>
                </a:solidFill>
                <a:latin typeface="微软雅黑"/>
              </a:rPr>
              <a:t>☁️ 云端</a:t>
            </a:r>
            <a:br/>
            <a:r>
              <a:t>省院信息中心</a:t>
            </a:r>
            <a:br/>
            <a:r>
              <a:t>• 国产算力集群</a:t>
            </a:r>
            <a:br/>
            <a:r>
              <a:t>• 私有化大模型部署</a:t>
            </a:r>
            <a:br/>
            <a:r>
              <a:t>• 数据不出域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80160"/>
            <a:ext cx="34747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6495ED"/>
                </a:solidFill>
                <a:latin typeface="微软雅黑"/>
              </a:rPr>
              <a:t>🔹 边侧</a:t>
            </a:r>
            <a:br/>
            <a:r>
              <a:t>客户数据中心/水库管理处</a:t>
            </a:r>
            <a:br/>
            <a:r>
              <a:t>• 边缘计算节点</a:t>
            </a:r>
            <a:br/>
            <a:r>
              <a:t>• 区域数据汇聚</a:t>
            </a:r>
            <a:br/>
            <a:r>
              <a:t>• 轻量级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34747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78D4"/>
                </a:solidFill>
                <a:latin typeface="微软雅黑"/>
              </a:rPr>
              <a:t>📡 端侧</a:t>
            </a:r>
            <a:br/>
            <a:r>
              <a:t>闸门/监测设备/传感器</a:t>
            </a:r>
            <a:br/>
            <a:r>
              <a:t>• 端侧 Agent 嵌入</a:t>
            </a:r>
            <a:br/>
            <a:r>
              <a:t>• 实时决策</a:t>
            </a:r>
            <a:br/>
            <a:r>
              <a:t>• 离线可用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2011680"/>
            <a:ext cx="9144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291840" y="2011680"/>
            <a:ext cx="91440" cy="365760"/>
          </a:xfrm>
          <a:prstGeom prst="rightArrow">
            <a:avLst/>
          </a:prstGeom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217920" y="2011680"/>
            <a:ext cx="9144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217920" y="2011680"/>
            <a:ext cx="91440" cy="365760"/>
          </a:xfrm>
          <a:prstGeom prst="rightArrow">
            <a:avLst/>
          </a:prstGeom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🛡️ 数据不出域</a:t>
            </a:r>
            <a:br/>
            <a:r>
              <a:t>敏感数据本地化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29184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🇨🇳 国产算力</a:t>
            </a:r>
            <a:br/>
            <a:r>
              <a:t>适配昇腾/寒武纪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🔐 分层授权</a:t>
            </a:r>
            <a:br/>
            <a:r>
              <a:t>云端训练，边端执行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323232"/>
                </a:solidFill>
                <a:latin typeface="微软雅黑"/>
              </a:rPr>
              <a:t>📝 审计追溯</a:t>
            </a:r>
            <a:br/>
            <a:r>
              <a:t>符合等保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应用场景与大模型工作流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四大核心场景 + 智能工作流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A8A"/>
                </a:solidFill>
                <a:latin typeface="微软雅黑"/>
              </a:rPr>
              <a:t>🧠 智能设计方案</a:t>
            </a:r>
            <a:br/>
            <a:br/>
            <a:r>
              <a:t>模型: Qwen2.5-72B</a:t>
            </a:r>
            <a:br/>
            <a:r>
              <a:t>价值: 缩短周期 50%+</a:t>
            </a:r>
            <a:br/>
            <a:r>
              <a:t>编号: #QQ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280160"/>
            <a:ext cx="4114800" cy="21031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A8A"/>
                </a:solidFill>
                <a:latin typeface="微软雅黑"/>
              </a:rPr>
              <a:t>🌊 水文智能分析</a:t>
            </a:r>
            <a:br/>
            <a:br/>
            <a:r>
              <a:t>模型: GLM-Edge</a:t>
            </a:r>
            <a:br/>
            <a:r>
              <a:t>价值: 提前预警 2-4h</a:t>
            </a:r>
            <a:br/>
            <a:r>
              <a:t>编号: #SQ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4114800" cy="21031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A8A"/>
                </a:solidFill>
                <a:latin typeface="微软雅黑"/>
              </a:rPr>
              <a:t>📄 文档自动审查</a:t>
            </a:r>
            <a:br/>
            <a:br/>
            <a:r>
              <a:t>模型: Qwen2.5-Coder</a:t>
            </a:r>
            <a:br/>
            <a:r>
              <a:t>价值: 审查降 70%</a:t>
            </a:r>
            <a:br/>
            <a:r>
              <a:t>编号: #WJ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566160"/>
            <a:ext cx="4114800" cy="21031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A8A"/>
                </a:solidFill>
                <a:latin typeface="微软雅黑"/>
              </a:rPr>
              <a:t>💬 知识库问答</a:t>
            </a:r>
            <a:br/>
            <a:br/>
            <a:r>
              <a:t>模型: 本地微调模型</a:t>
            </a:r>
            <a:br/>
            <a:r>
              <a:t>价值: 培训提 3 倍</a:t>
            </a:r>
            <a:br/>
            <a:r>
              <a:t>编号: #WS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850392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46464"/>
                </a:solidFill>
                <a:latin typeface="微软雅黑"/>
              </a:rPr>
              <a:t>💡 工作流说明：检测 → 分析 → 预测 → 预警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智慧闸门端侧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辅助决策模式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传感器层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18872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水位/流量/开度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⬇️ 数据采集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实时监测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🧠 端侧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6888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智能分析 + 建议生成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089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⚠️ 人工确认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10896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值班员审核批准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49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⚡ 执行指令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74904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闸控系统动作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89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➡️ 边侧同步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38912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水库数据中心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292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微软雅黑"/>
              </a:rPr>
              <a:t>⬅️ 云端监控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02920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23232"/>
                </a:solidFill>
                <a:latin typeface="微软雅黑"/>
              </a:rPr>
              <a:t>省院信息中心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3366"/>
                </a:solidFill>
                <a:latin typeface="微软雅黑"/>
              </a:rPr>
              <a:t>💡 使用场景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23232"/>
                </a:solidFill>
                <a:latin typeface="微软雅黑"/>
              </a:rPr>
              <a:t>洪水应急调度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微软雅黑"/>
              </a:rPr>
              <a:t>必须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77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23232"/>
                </a:solidFill>
                <a:latin typeface="微软雅黑"/>
              </a:rPr>
              <a:t>灌溉配水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651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微软雅黑"/>
              </a:rPr>
              <a:t>必须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23232"/>
                </a:solidFill>
                <a:latin typeface="微软雅黑"/>
              </a:rPr>
              <a:t>故障诊断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200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微软雅黑"/>
              </a:rPr>
              <a:t>可选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23232"/>
                </a:solidFill>
                <a:latin typeface="微软雅黑"/>
              </a:rPr>
              <a:t>异常告警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749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微软雅黑"/>
              </a:rPr>
              <a:t>必须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114800"/>
            <a:ext cx="7315200" cy="73152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3366"/>
                </a:solidFill>
                <a:latin typeface="微软雅黑"/>
              </a:rPr>
              <a:t>🤖 AI 负责：数据分析、方案生成、风险预警 | 👤 人负责：最终决策、责任承担 | 🔒 系统：安全阈值保护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客户侧延伸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水库/灌区的边端协同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微软雅黑"/>
              </a:rPr>
              <a:t>🔹 边侧（客户数据中心）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  <a:latin typeface="微软雅黑"/>
              </a:rPr>
              <a:t>区域数据汇聚：多水库、多灌区</a:t>
            </a:r>
            <a:br/>
            <a:r>
              <a:t>本地大模型推理：无需上传云端</a:t>
            </a:r>
            <a:br/>
            <a:r>
              <a:t>与省院云端协同：模型更新、知识同步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78D4"/>
                </a:solidFill>
                <a:latin typeface="微软雅黑"/>
              </a:rPr>
              <a:t>📡 端侧（终端设备）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  <a:latin typeface="微软雅黑"/>
              </a:rPr>
              <a:t>监测设备：水位、雨量、流量计</a:t>
            </a:r>
            <a:br/>
            <a:r>
              <a:t>控制设备：闸门、泵站智能决策</a:t>
            </a:r>
            <a:br/>
            <a:r>
              <a:t>巡检设备：无人机/机器人自主巡护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3366"/>
                </a:solidFill>
                <a:latin typeface="微软雅黑"/>
              </a:rPr>
              <a:t>🏆 客户价值：效率 × 质量 × 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3CB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CB371"/>
                </a:solidFill>
                <a:latin typeface="微软雅黑"/>
              </a:rPr>
              <a:t>📊 管理效率</a:t>
            </a:r>
            <a:br/>
            <a:r>
              <a:t>减少人工巡检 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9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</a:rPr>
              <a:t>💡 决策质量</a:t>
            </a:r>
            <a:br/>
            <a:r>
              <a:t>减少经验依赖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A500"/>
                </a:solidFill>
                <a:latin typeface="微软雅黑"/>
              </a:rPr>
              <a:t>⚡ 响应速度</a:t>
            </a:r>
            <a:br/>
            <a:r>
              <a:t>小时级→分钟级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23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A8A"/>
                </a:solidFill>
                <a:latin typeface="微软雅黑"/>
              </a:rPr>
              <a:t>💰 成本控制</a:t>
            </a:r>
            <a:br/>
            <a:r>
              <a:t>长期运维降 30-40%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CE6FF"/>
                </a:solidFill>
                <a:latin typeface="微软雅黑"/>
              </a:rPr>
              <a:t>三步走战略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3366"/>
                </a:solidFill>
                <a:latin typeface="微软雅黑"/>
              </a:rPr>
              <a:t>🎯 核心共识：端云结合是水利设计院智能化的必由之路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3774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  <a:latin typeface="微软雅黑"/>
              </a:rPr>
              <a:t>第一阶段</a:t>
            </a:r>
            <a:br/>
            <a:r>
              <a:t>2026 Q2-Q3</a:t>
            </a:r>
            <a:br/>
            <a:r>
              <a:t>搭建框架</a:t>
            </a:r>
            <a:br/>
            <a:r>
              <a:t>• 私有化大模型部署</a:t>
            </a:r>
            <a:br/>
            <a:r>
              <a:t>• 国产算力适配</a:t>
            </a:r>
            <a:br/>
            <a:r>
              <a:t>• 1-2 个试点场景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194560"/>
            <a:ext cx="23774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  <a:latin typeface="微软雅黑"/>
              </a:rPr>
              <a:t>第二阶段</a:t>
            </a:r>
            <a:br/>
            <a:r>
              <a:t>2026 Q4-2027 Q1</a:t>
            </a:r>
            <a:br/>
            <a:r>
              <a:t>场景落地</a:t>
            </a:r>
            <a:br/>
            <a:r>
              <a:t>• 智能设计上线</a:t>
            </a:r>
            <a:br/>
            <a:r>
              <a:t>• 闸门 Agent 试点</a:t>
            </a:r>
            <a:br/>
            <a:r>
              <a:t>• 设计师培训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2194560"/>
            <a:ext cx="23774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  <a:latin typeface="微软雅黑"/>
              </a:rPr>
              <a:t>第三阶段</a:t>
            </a:r>
            <a:br/>
            <a:r>
              <a:t>2027 Q2 起</a:t>
            </a:r>
            <a:br/>
            <a:r>
              <a:t>规模推广</a:t>
            </a:r>
            <a:br/>
            <a:r>
              <a:t>• 80% 业务覆盖</a:t>
            </a:r>
            <a:br/>
            <a:r>
              <a:t>• 客户端推广</a:t>
            </a:r>
            <a:br/>
            <a:r>
              <a:t>• 行业标准制定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6400800" cy="914400"/>
          </a:xfrm>
          <a:prstGeom prst="rect">
            <a:avLst/>
          </a:prstGeom>
          <a:solidFill>
            <a:srgbClr val="E6F0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3366"/>
                </a:solidFill>
                <a:latin typeface="微软雅黑"/>
              </a:rPr>
              <a:t>🌍 愿景：让 AI Agent 成为水利设计师的智能助手，而非替代者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