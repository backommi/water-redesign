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t>核心框架设计 —— 安全优先的端云协同架构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097280"/>
            <a:ext cx="7315200" cy="137160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t>云端（省院信息中心）</a:t>
            </a:r>
            <a:br/>
            <a:r>
              <a:t>• 国产算力集群（华为昇腾/寒武纪）</a:t>
            </a:r>
            <a:br/>
            <a:r>
              <a:t>• 私有化大模型部署（Qwen/GLM）</a:t>
            </a:r>
            <a:br/>
            <a:r>
              <a:t>• 数据不出域，统一训练与推理</a:t>
            </a:r>
          </a:p>
        </p:txBody>
      </p:sp>
      <p:sp>
        <p:nvSpPr>
          <p:cNvPr id="4" name="Down Arrow 3"/>
          <p:cNvSpPr/>
          <p:nvPr/>
        </p:nvSpPr>
        <p:spPr>
          <a:xfrm>
            <a:off x="4343400" y="2560320"/>
            <a:ext cx="457200" cy="36576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3017520"/>
            <a:ext cx="7315200" cy="13716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t>边侧（客户数据中心/水库管理处）</a:t>
            </a:r>
            <a:br/>
            <a:r>
              <a:t>• 边缘计算节点</a:t>
            </a:r>
            <a:br/>
            <a:r>
              <a:t>• 区域数据汇聚与预处理</a:t>
            </a:r>
            <a:br/>
            <a:r>
              <a:t>• 轻量级 Agent 协同调度</a:t>
            </a:r>
          </a:p>
        </p:txBody>
      </p:sp>
      <p:sp>
        <p:nvSpPr>
          <p:cNvPr id="6" name="Down Arrow 5"/>
          <p:cNvSpPr/>
          <p:nvPr/>
        </p:nvSpPr>
        <p:spPr>
          <a:xfrm>
            <a:off x="4343400" y="4480560"/>
            <a:ext cx="457200" cy="36576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914400" y="4937760"/>
            <a:ext cx="7315200" cy="13716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t>端侧（闸门/监测设备/传感器）</a:t>
            </a:r>
            <a:br/>
            <a:r>
              <a:t>• 端侧 Agent 嵌入闸控系统</a:t>
            </a:r>
            <a:br/>
            <a:r>
              <a:t>• 实时决策与应急响应</a:t>
            </a:r>
            <a:br/>
            <a:r>
              <a:t>• 离线可用，断网仍可运行核心功能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✅ 数据不出域：敏感数据（水文、地理信息）留在本地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✅ 国产算力：适配华为昇腾、寒武纪等国产芯片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✅ 分层授权：云端训练、边侧推理、端侧执行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✅ 审计追溯：全链路操作日志，符合等保 2.0 要求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t>应用场景与大模型工作流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097280"/>
          <a:ext cx="1124712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10058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大模型选择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工作流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价值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智能设计方案生成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Qwen2.5-72B（云端）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输入需求→自动调用地勘数据→生成初步方案→工程师审核优化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缩短设计周期 50%+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水文数据智能分析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GLM-Edge（边侧）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实时监测数据→异常检测→趋势预测→预警推送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提前 2-4 小时预警洪水风险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工程文档自动审查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Qwen2.5-Coder（云端）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上传设计文档→规范合规性检查→问题标注→修改建议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减少人工审查工作量 70%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058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知识库问答助手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本地微调小模型（端侧）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自然语言提问→检索设计院知识库→精准回答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新人培训效率提升 3 倍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t>端侧 Agent 部署 —— 智慧闸门闸控系统（辅助决策模式）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传感器层（水位、流量、闸门开度）</a:t>
            </a:r>
          </a:p>
        </p:txBody>
      </p:sp>
      <p:sp>
        <p:nvSpPr>
          <p:cNvPr id="4" name="Down Arrow 3"/>
          <p:cNvSpPr/>
          <p:nvPr/>
        </p:nvSpPr>
        <p:spPr>
          <a:xfrm>
            <a:off x="4114800" y="169164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端侧 Agent（嵌入式设备，如 RK3588/Jetson）</a:t>
            </a:r>
          </a:p>
        </p:txBody>
      </p:sp>
      <p:sp>
        <p:nvSpPr>
          <p:cNvPr id="6" name="Down Arrow 5"/>
          <p:cNvSpPr/>
          <p:nvPr/>
        </p:nvSpPr>
        <p:spPr>
          <a:xfrm>
            <a:off x="4114800" y="233172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智能分析 + 建议生成（推荐开度、时机、流量）</a:t>
            </a:r>
          </a:p>
        </p:txBody>
      </p:sp>
      <p:sp>
        <p:nvSpPr>
          <p:cNvPr id="8" name="Down Arrow 7"/>
          <p:cNvSpPr/>
          <p:nvPr/>
        </p:nvSpPr>
        <p:spPr>
          <a:xfrm>
            <a:off x="4114800" y="297180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1520" y="3108960"/>
            <a:ext cx="7680960" cy="457200"/>
          </a:xfrm>
          <a:prstGeom prst="roundRect">
            <a:avLst/>
          </a:prstGeom>
          <a:solidFill>
            <a:srgbClr val="FFEBEE"/>
          </a:solidFill>
          <a:ln w="19050">
            <a:solidFill>
              <a:srgbClr val="D32F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⚠️ 人工确认（值班人员审核批准）</a:t>
            </a:r>
          </a:p>
        </p:txBody>
      </p:sp>
      <p:sp>
        <p:nvSpPr>
          <p:cNvPr id="10" name="Down Arrow 9"/>
          <p:cNvSpPr/>
          <p:nvPr/>
        </p:nvSpPr>
        <p:spPr>
          <a:xfrm>
            <a:off x="4114800" y="361188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3749039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执行指令（闸控系统动作）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4114800" y="4251959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731520" y="438912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边侧同步（水库数据中心）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4114800" y="4892040"/>
            <a:ext cx="274320" cy="274320"/>
          </a:xfrm>
          <a:prstGeom prst="downArrow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31520" y="5029200"/>
            <a:ext cx="7680960" cy="457200"/>
          </a:xfrm>
          <a:prstGeom prst="roundRect">
            <a:avLst/>
          </a:prstGeom>
          <a:solidFill>
            <a:srgbClr val="E3F2FD"/>
          </a:solidFill>
          <a:ln w="1905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1F2937"/>
                </a:solidFill>
                <a:latin typeface="微软雅黑"/>
              </a:defRPr>
            </a:pPr>
            <a:r>
              <a:t>云端监控（省院信息中心）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457200" y="4754880"/>
          <a:ext cx="1124712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1780"/>
                <a:gridCol w="2811780"/>
                <a:gridCol w="2811780"/>
                <a:gridCol w="2811780"/>
              </a:tblGrid>
              <a:tr h="36576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场景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端侧 Agent 功能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人工介入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价值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洪水应急调度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根据水位 + 降雨预测生成开闸建议方案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✅ 必须确认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缩短决策时间，责任清晰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灌溉精准配水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根据作物需水量 + 土壤湿度推荐配水计划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✅ 必须确认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减少经验依赖，优化资源配置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设备故障诊断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实时监测电机、传感器状态，提前预警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⚠️ 可选确认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预防性维护，减少停机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异常告警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发现数据异常自动推送告警 + 初步分析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✅ 必须确认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快速响应，避免误判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7" name="TextBox 16"/>
          <p:cNvSpPr txBox="1"/>
          <p:nvPr/>
        </p:nvSpPr>
        <p:spPr>
          <a:xfrm>
            <a:off x="457200" y="36576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🤖 AI 负责：数据分析、方案生成、风险预警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👤 人负责：最终决策、责任承担、例外处理</a:t>
            </a:r>
          </a:p>
          <a:p>
            <a:pPr>
              <a:defRPr sz="1300">
                <a:solidFill>
                  <a:srgbClr val="1F2937"/>
                </a:solidFill>
                <a:latin typeface="微软雅黑"/>
              </a:defRPr>
            </a:pPr>
            <a:r>
              <a:t>🔒 系统保护：设置安全阈值，超出范围自动锁定需上级授权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t>客户侧延伸 —— 水库/灌区的边端协同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03520" cy="228600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t>边侧（客户数据中心）</a:t>
            </a:r>
            <a:br/>
            <a:br/>
            <a:r>
              <a:t>• 区域数据汇聚（多水库、多灌区）</a:t>
            </a:r>
            <a:br/>
            <a:r>
              <a:t>• 本地大模型推理（无需上传云端）</a:t>
            </a:r>
            <a:br/>
            <a:r>
              <a:t>• 与省院云端协同（模型更新、知识同步）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0" y="1097280"/>
            <a:ext cx="5303520" cy="228600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400">
                <a:solidFill>
                  <a:srgbClr val="1F2937"/>
                </a:solidFill>
                <a:latin typeface="微软雅黑"/>
              </a:defRPr>
            </a:pPr>
            <a:r>
              <a:t>端侧（终端监测/控制设备）</a:t>
            </a:r>
            <a:br/>
            <a:br/>
            <a:r>
              <a:t>• 水位站、雨量站、流量计等监测设备嵌入 Agent</a:t>
            </a:r>
            <a:br/>
            <a:r>
              <a:t>• 闸门、泵站等控制设备智能决策</a:t>
            </a:r>
            <a:br/>
            <a:r>
              <a:t>• 巡检无人机/机器人自主巡护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3657600"/>
          <a:ext cx="112471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54864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价值维度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  <a:latin typeface="微软雅黑"/>
                        </a:defRPr>
                      </a:pPr>
                      <a:r>
                        <a:t>具体收益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管理效率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减少人工巡检 60%，自动化报表生成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决策质量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数据驱动决策，减少经验依赖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响应速度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应急事件响应从小时级降至分钟级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成本控制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F2937"/>
                          </a:solidFill>
                          <a:latin typeface="微软雅黑"/>
                        </a:defRPr>
                      </a:pPr>
                      <a:r>
                        <a:t>长期运维成本降低 30-40%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E3A8A"/>
                </a:solidFill>
                <a:latin typeface="微软雅黑"/>
              </a:defRPr>
            </a:pPr>
            <a:r>
              <a:t>总结与展望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474720" cy="1645920"/>
          </a:xfrm>
          <a:prstGeom prst="roundRect">
            <a:avLst/>
          </a:prstGeom>
          <a:solidFill>
            <a:srgbClr val="E3F2FD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1F2937"/>
                </a:solidFill>
                <a:latin typeface="微软雅黑"/>
              </a:defRPr>
            </a:pPr>
            <a:r>
              <a:t>第一阶段（2026 Q2-Q3）：搭建框架</a:t>
            </a:r>
            <a:br/>
            <a:br/>
            <a:r>
              <a:t>• 部署云端私有化大模型</a:t>
            </a:r>
            <a:br/>
            <a:r>
              <a:t>• 完成信息中心国产算力适配</a:t>
            </a:r>
            <a:br/>
            <a:r>
              <a:t>• 选择 1-2 个试点场景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43400" y="1097280"/>
            <a:ext cx="3474720" cy="1645920"/>
          </a:xfrm>
          <a:prstGeom prst="roundRect">
            <a:avLst/>
          </a:prstGeom>
          <a:solidFill>
            <a:srgbClr val="E8F5E9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1F2937"/>
                </a:solidFill>
                <a:latin typeface="微软雅黑"/>
              </a:defRPr>
            </a:pPr>
            <a:r>
              <a:t>第二阶段（2026 Q4-2027 Q1）：场景落地</a:t>
            </a:r>
            <a:br/>
            <a:br/>
            <a:r>
              <a:t>• 智能设计方案生成上线</a:t>
            </a:r>
            <a:br/>
            <a:r>
              <a:t>• 智慧闸门端侧 Agent 试点</a:t>
            </a:r>
            <a:br/>
            <a:r>
              <a:t>• 培训设计人员使用新工具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0" y="1097280"/>
            <a:ext cx="3474720" cy="1645920"/>
          </a:xfrm>
          <a:prstGeom prst="roundRect">
            <a:avLst/>
          </a:prstGeom>
          <a:solidFill>
            <a:srgbClr val="FFF3E0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>
              <a:defRPr sz="1300">
                <a:solidFill>
                  <a:srgbClr val="1F2937"/>
                </a:solidFill>
                <a:latin typeface="微软雅黑"/>
              </a:defRPr>
            </a:pPr>
            <a:r>
              <a:t>第三阶段（2027 Q2 起）：规模推广</a:t>
            </a:r>
            <a:br/>
            <a:br/>
            <a:r>
              <a:t>• 覆盖 80% 核心业务场景</a:t>
            </a:r>
            <a:br/>
            <a:r>
              <a:t>• 向客户（水库/灌区）推广边端方案</a:t>
            </a:r>
            <a:br/>
            <a:r>
              <a:t>• 形成行业标准与最佳实践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3017520"/>
            <a:ext cx="11247120" cy="1828800"/>
          </a:xfrm>
          <a:prstGeom prst="roundRect">
            <a:avLst/>
          </a:prstGeom>
          <a:solidFill>
            <a:srgbClr val="E8EAF6"/>
          </a:solidFill>
          <a:ln w="381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1000"/>
              </a:spcAft>
              <a:defRPr sz="1800" b="1">
                <a:solidFill>
                  <a:srgbClr val="1E3A8A"/>
                </a:solidFill>
                <a:latin typeface="微软雅黑"/>
              </a:defRPr>
            </a:pPr>
            <a:r>
              <a:t>让 AI Agent 成为水利设计师的智能助手，而非替代者</a:t>
            </a:r>
            <a:br/>
            <a:r>
              <a:t>安全、可控、高效地推动设计院数字化转型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