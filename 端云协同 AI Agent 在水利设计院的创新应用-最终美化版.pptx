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核心框架设计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安全优先的端云协同架构设计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2918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1E3A8A"/>
                </a:solidFill>
                <a:latin typeface="微软雅黑"/>
              </a:rPr>
              <a:t>☁️ 云端 - 省院信息中心</a:t>
            </a:r>
            <a:br/>
            <a:br/>
            <a:r>
              <a:t>国产算力集群（昇腾/寒武纪）</a:t>
            </a:r>
            <a:br/>
            <a:r>
              <a:t>私有化大模型（Qwen/GLM）</a:t>
            </a:r>
            <a:br/>
            <a:r>
              <a:t>数据不出域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32918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1E3A8A"/>
                </a:solidFill>
                <a:latin typeface="微软雅黑"/>
              </a:rPr>
              <a:t>🔹 边侧 - 客户数据中心</a:t>
            </a:r>
            <a:br/>
            <a:br/>
            <a:r>
              <a:t>边缘计算节点</a:t>
            </a:r>
            <a:br/>
            <a:r>
              <a:t>区域数据汇聚与预处理</a:t>
            </a:r>
            <a:br/>
            <a:r>
              <a:t>轻量级 Agent 协同调度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80160"/>
            <a:ext cx="32918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1E3A8A"/>
                </a:solidFill>
                <a:latin typeface="微软雅黑"/>
              </a:rPr>
              <a:t>📡 端侧 - 监测设备</a:t>
            </a:r>
            <a:br/>
            <a:br/>
            <a:r>
              <a:t>端侧 Agent 嵌入闸控</a:t>
            </a:r>
            <a:br/>
            <a:r>
              <a:t>实时决策与应急响应</a:t>
            </a:r>
            <a:br/>
            <a:r>
              <a:t>离线可用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74720" y="2011680"/>
            <a:ext cx="91440" cy="4572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474720" y="2011680"/>
            <a:ext cx="91440" cy="457200"/>
          </a:xfrm>
          <a:prstGeom prst="rightArrow">
            <a:avLst/>
          </a:prstGeom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492240" y="2011680"/>
            <a:ext cx="91440" cy="4572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492240" y="2011680"/>
            <a:ext cx="91440" cy="457200"/>
          </a:xfrm>
          <a:prstGeom prst="rightArrow">
            <a:avLst/>
          </a:prstGeom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🛡️ 数据不出域</a:t>
            </a:r>
            <a:br/>
            <a:r>
              <a:t>敏感数据本地化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329184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🇨🇳 国产算力</a:t>
            </a:r>
            <a:br/>
            <a:r>
              <a:t>适配昇腾/寒武纪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🔐 分层授权</a:t>
            </a:r>
            <a:br/>
            <a:r>
              <a:t>云端训练，边端执行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411480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📝 审计追溯</a:t>
            </a:r>
            <a:br/>
            <a:r>
              <a:t>符合等保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应用场景与大模型工作流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四大核心场景 + 智能工作流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20624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0078D4"/>
                </a:solidFill>
                <a:latin typeface="微软雅黑"/>
              </a:rPr>
              <a:t>🧠 智能设计方案生成</a:t>
            </a:r>
            <a:br/>
            <a:br/>
            <a:r>
              <a:t>Qwen2.5-72B</a:t>
            </a:r>
            <a:br/>
            <a:r>
              <a:t>缩短周期 50%+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420624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0078D4"/>
                </a:solidFill>
                <a:latin typeface="微软雅黑"/>
              </a:rPr>
              <a:t>🌊 水文数据智能分析</a:t>
            </a:r>
            <a:br/>
            <a:br/>
            <a:r>
              <a:t>GLM-Edge</a:t>
            </a:r>
            <a:br/>
            <a:r>
              <a:t>提前预警 2-4h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420624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0078D4"/>
                </a:solidFill>
                <a:latin typeface="微软雅黑"/>
              </a:rPr>
              <a:t>📄 工程文档自动审查</a:t>
            </a:r>
            <a:br/>
            <a:br/>
            <a:r>
              <a:t>Qwen2.5-Coder</a:t>
            </a:r>
            <a:br/>
            <a:r>
              <a:t>审查降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657600"/>
            <a:ext cx="420624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0078D4"/>
                </a:solidFill>
                <a:latin typeface="微软雅黑"/>
              </a:rPr>
              <a:t>💬 知识库问答助手</a:t>
            </a:r>
            <a:br/>
            <a:br/>
            <a:r>
              <a:t>本地微调模型</a:t>
            </a:r>
            <a:br/>
            <a:r>
              <a:t>培训提 3 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8686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323232"/>
                </a:solidFill>
                <a:latin typeface="微软雅黑"/>
              </a:rPr>
              <a:t>💡 工作流说明</a:t>
            </a:r>
            <a:br/>
            <a:br/>
            <a:r>
              <a:t>检测 → 分析 → 预测 → 预警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智慧闸门端侧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辅助决策模式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887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传感器层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18872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水位/流量/开度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⬇️ 数据采集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82880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实时监测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🧠 端侧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46888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智能分析 + 建议生成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⚠️ 人工确认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10896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值班员审核批准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49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⚡ 执行指令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74904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闸控系统动作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389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➡️ 边侧同步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38912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水库数据中心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0292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微软雅黑"/>
              </a:rPr>
              <a:t>⬅️ 云端监控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502920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23232"/>
                </a:solidFill>
                <a:latin typeface="微软雅黑"/>
              </a:rPr>
              <a:t>省院信息中心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283464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  <a:latin typeface="微软雅黑"/>
              </a:rPr>
              <a:t>💡 使用场景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920240"/>
            <a:ext cx="283464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洪水应急调度</a:t>
            </a:r>
            <a:br/>
            <a:r>
              <a:t>人工: 必须</a:t>
            </a:r>
            <a:br/>
            <a:r>
              <a:t>价值: 缩短决策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14600"/>
            <a:ext cx="283464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灌溉配水</a:t>
            </a:r>
            <a:br/>
            <a:r>
              <a:t>人工: 必须</a:t>
            </a:r>
            <a:br/>
            <a:r>
              <a:t>价值: 优化配置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283464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故障诊断</a:t>
            </a:r>
            <a:br/>
            <a:r>
              <a:t>人工: 可选</a:t>
            </a:r>
            <a:br/>
            <a:r>
              <a:t>价值: 预防维护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283464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异常告警</a:t>
            </a:r>
            <a:br/>
            <a:r>
              <a:t>人工: 必须</a:t>
            </a:r>
            <a:br/>
            <a:r>
              <a:t>价值: 快速响应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206240"/>
            <a:ext cx="7498079" cy="822960"/>
          </a:xfrm>
          <a:prstGeom prst="rect">
            <a:avLst/>
          </a:prstGeom>
          <a:solidFill>
            <a:srgbClr val="F0F8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微软雅黑"/>
              </a:rPr>
              <a:t>🤖 AI 负责：数据分析、方案生成、风险预警 | 👤 人负责：最终决策、责任承担 | 🔒 系统：安全阈值保护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客户侧延伸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水库/灌区的边端协同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29768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1E3A8A"/>
                </a:solidFill>
                <a:latin typeface="微软雅黑"/>
              </a:rPr>
              <a:t>🔹 边侧（客户数据中心）</a:t>
            </a:r>
            <a:br/>
            <a:br/>
            <a:r>
              <a:t>区域数据汇聚：多水库、多灌区</a:t>
            </a:r>
            <a:br/>
            <a:r>
              <a:t>本地大模型推理：无需上传云端</a:t>
            </a:r>
            <a:br/>
            <a:r>
              <a:t>与省院云端协同：模型更新、知识同步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280160"/>
            <a:ext cx="429768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/>
          <a:lstStyle/>
          <a:p>
            <a:pPr algn="l"/>
            <a:r>
              <a:rPr sz="1600" b="1">
                <a:solidFill>
                  <a:srgbClr val="1E3A8A"/>
                </a:solidFill>
                <a:latin typeface="微软雅黑"/>
              </a:rPr>
              <a:t>📡 端侧（终端设备）</a:t>
            </a:r>
            <a:br/>
            <a:br/>
            <a:r>
              <a:t>监测设备：水位、雨量、流量计</a:t>
            </a:r>
            <a:br/>
            <a:r>
              <a:t>控制设备：闸门、泵站智能决策</a:t>
            </a:r>
            <a:br/>
            <a:r>
              <a:t>巡检设备：无人机/机器人自主巡护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8732520" cy="914400"/>
          </a:xfrm>
          <a:prstGeom prst="rect">
            <a:avLst/>
          </a:prstGeom>
          <a:solidFill>
            <a:srgbClr val="F8F8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E3A8A"/>
                </a:solidFill>
                <a:latin typeface="微软雅黑"/>
              </a:rPr>
              <a:t>🏆 客户价值：效率 × 质量 × 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</a:rPr>
              <a:t>📊 管理效率</a:t>
            </a:r>
            <a:br/>
            <a:r>
              <a:t>减少人工巡检 60%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177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</a:rPr>
              <a:t>💡 决策质量</a:t>
            </a:r>
            <a:br/>
            <a:r>
              <a:t>减少经验依赖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490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</a:rPr>
              <a:t>⚡ 响应速度</a:t>
            </a:r>
            <a:br/>
            <a:r>
              <a:t>小时级→分钟级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803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</a:rPr>
              <a:t>💰 成本控制</a:t>
            </a:r>
            <a:br/>
            <a:r>
              <a:t>长期运维降 30-40%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三步走战略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solidFill>
            <a:srgbClr val="F8F8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E3A8A"/>
                </a:solidFill>
                <a:latin typeface="微软雅黑"/>
              </a:rPr>
              <a:t>🎯 核心共识：端云结合是水利设计院智能化的必由之路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37744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E3A8A"/>
                </a:solidFill>
                <a:latin typeface="微软雅黑"/>
              </a:rPr>
              <a:t>第一阶段</a:t>
            </a:r>
            <a:br/>
            <a:r>
              <a:t>2026 Q2-Q3</a:t>
            </a:r>
            <a:br/>
            <a:r>
              <a:t>搭建框架</a:t>
            </a:r>
            <a:br/>
            <a:r>
              <a:t>• 私有化大模型部署</a:t>
            </a:r>
            <a:br/>
            <a:r>
              <a:t>• 国产算力适配</a:t>
            </a:r>
            <a:br/>
            <a:r>
              <a:t>• 1-2 个试点场景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286000"/>
            <a:ext cx="237744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E3A8A"/>
                </a:solidFill>
                <a:latin typeface="微软雅黑"/>
              </a:rPr>
              <a:t>第二阶段</a:t>
            </a:r>
            <a:br/>
            <a:r>
              <a:t>2026 Q4-2027 Q1</a:t>
            </a:r>
            <a:br/>
            <a:r>
              <a:t>场景落地</a:t>
            </a:r>
            <a:br/>
            <a:r>
              <a:t>• 智能设计上线</a:t>
            </a:r>
            <a:br/>
            <a:r>
              <a:t>• 闸门 Agent 试点</a:t>
            </a:r>
            <a:br/>
            <a:r>
              <a:t>• 设计师培训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2286000"/>
            <a:ext cx="237744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E3A8A"/>
                </a:solidFill>
                <a:latin typeface="微软雅黑"/>
              </a:rPr>
              <a:t>第三阶段</a:t>
            </a:r>
            <a:br/>
            <a:r>
              <a:t>2027 Q2 起</a:t>
            </a:r>
            <a:br/>
            <a:r>
              <a:t>规模推广</a:t>
            </a:r>
            <a:br/>
            <a:r>
              <a:t>• 80% 业务覆盖</a:t>
            </a:r>
            <a:br/>
            <a:r>
              <a:t>• 客户端推广</a:t>
            </a:r>
            <a:br/>
            <a:r>
              <a:t>• 行业标准制定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37760"/>
            <a:ext cx="6400800" cy="1005840"/>
          </a:xfrm>
          <a:prstGeom prst="rect">
            <a:avLst/>
          </a:prstGeom>
          <a:solidFill>
            <a:srgbClr val="E6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  <a:latin typeface="微软雅黑"/>
              </a:rPr>
              <a:t>🌍 愿景：让 AI Agent 成为水利设计师的智能助手，而非替代者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