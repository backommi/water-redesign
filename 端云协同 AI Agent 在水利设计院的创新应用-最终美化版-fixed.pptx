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961120" cy="77724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Microsoft YaHei"/>
              </a:rPr>
              <a:t>核心框架设计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安全优先的端云协同架构设计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29184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☁️ 云端 - 省院信息中心</a:t>
            </a:r>
            <a:br/>
            <a:br/>
            <a:r>
              <a:rPr sz="1400" b="0">
                <a:solidFill>
                  <a:srgbClr val="1F2937"/>
                </a:solidFill>
                <a:latin typeface="Microsoft YaHei"/>
              </a:rPr>
              <a:t>国产算力集群（昇腾/寒武纪）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私有化大模型（Qwen/GLM）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数据不出域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280160"/>
            <a:ext cx="329184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🔹 边侧 - 客户数据中心</a:t>
            </a:r>
            <a:br/>
            <a:br/>
            <a:r>
              <a:rPr sz="1400" b="0">
                <a:solidFill>
                  <a:srgbClr val="1F2937"/>
                </a:solidFill>
                <a:latin typeface="Microsoft YaHei"/>
              </a:rPr>
              <a:t>边缘计算节点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区域数据汇聚与预处理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轻量级 Agent 协同调度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280160"/>
            <a:ext cx="237744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📡 端侧 - 监测设备</a:t>
            </a:r>
            <a:br/>
            <a:br/>
            <a:r>
              <a:rPr sz="1400" b="0">
                <a:solidFill>
                  <a:srgbClr val="1F2937"/>
                </a:solidFill>
                <a:latin typeface="Microsoft YaHei"/>
              </a:rPr>
              <a:t>端侧 Agent 嵌入闸控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实时决策与应急响应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离线可用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74720" y="2011680"/>
            <a:ext cx="91440" cy="45720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3474720" y="2011680"/>
            <a:ext cx="91440" cy="457200"/>
          </a:xfrm>
          <a:prstGeom prst="rightArrow">
            <a:avLst/>
          </a:prstGeom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6492240" y="2011680"/>
            <a:ext cx="91440" cy="457200"/>
          </a:xfrm>
          <a:prstGeom prst="right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6492240" y="2011680"/>
            <a:ext cx="91440" cy="457200"/>
          </a:xfrm>
          <a:prstGeom prst="rightArrow">
            <a:avLst/>
          </a:prstGeom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91840"/>
            <a:ext cx="3108960" cy="7315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🛡️ 数据不出域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敏感数据本地化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3291840"/>
            <a:ext cx="3108960" cy="7315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🇨🇳 国产算力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适配昇腾/寒武纪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3108960" cy="7315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🔐 分层授权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云端训练，边端执行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4114800"/>
            <a:ext cx="3108960" cy="7315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📝 审计追溯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符合等保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961120" cy="77724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Microsoft YaHei"/>
              </a:rPr>
              <a:t>应用场景与大模型工作流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四大核心场景 + 智能工作流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4206240" cy="2011680"/>
          </a:xfrm>
          <a:prstGeom prst="round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🧠 智能设计方案生成</a:t>
            </a:r>
            <a:br/>
            <a:br/>
            <a:r>
              <a:rPr sz="1400" b="0">
                <a:solidFill>
                  <a:srgbClr val="1F2937"/>
                </a:solidFill>
                <a:latin typeface="Microsoft YaHei"/>
              </a:rPr>
              <a:t>Qwen2.5-72B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缩短周期 50%+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280160"/>
            <a:ext cx="3931920" cy="2011680"/>
          </a:xfrm>
          <a:prstGeom prst="round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🌊 水文数据智能分析</a:t>
            </a:r>
            <a:br/>
            <a:br/>
            <a:r>
              <a:rPr sz="1400" b="0">
                <a:solidFill>
                  <a:srgbClr val="1F2937"/>
                </a:solidFill>
                <a:latin typeface="Microsoft YaHei"/>
              </a:rPr>
              <a:t>GLM-Edge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提前预警 2-4h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57600"/>
            <a:ext cx="4206240" cy="1303020"/>
          </a:xfrm>
          <a:prstGeom prst="round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📄 工程文档自动审查</a:t>
            </a:r>
            <a:br/>
            <a:br/>
            <a:r>
              <a:rPr sz="1400" b="0">
                <a:solidFill>
                  <a:srgbClr val="1F2937"/>
                </a:solidFill>
                <a:latin typeface="Microsoft YaHei"/>
              </a:rPr>
              <a:t>Qwen2.5-Coder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审查降 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3657600"/>
            <a:ext cx="3931920" cy="1303020"/>
          </a:xfrm>
          <a:prstGeom prst="round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💬 知识库问答助手</a:t>
            </a:r>
            <a:br/>
            <a:br/>
            <a:r>
              <a:rPr sz="1400" b="0">
                <a:solidFill>
                  <a:srgbClr val="1F2937"/>
                </a:solidFill>
                <a:latin typeface="Microsoft YaHei"/>
              </a:rPr>
              <a:t>本地微调模型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培训提 3 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60"/>
            <a:ext cx="841248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💡 工作流说明</a:t>
            </a:r>
            <a:br/>
            <a:br/>
            <a:r>
              <a:rPr sz="1400" b="0">
                <a:solidFill>
                  <a:srgbClr val="1F2937"/>
                </a:solidFill>
                <a:latin typeface="Microsoft YaHei"/>
              </a:rPr>
              <a:t>检测 → 分析 → 预测 → 预警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961120" cy="77724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Microsoft YaHei"/>
              </a:rPr>
              <a:t>智慧闸门端侧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辅助决策模式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18872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传感器层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188720"/>
            <a:ext cx="2194560" cy="5029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水位/流量/开度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82880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⬇️ 数据采集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828800"/>
            <a:ext cx="2194560" cy="5029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实时监测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46888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🧠 端侧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2468880"/>
            <a:ext cx="2194560" cy="5029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智能分析 + 建议生成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10896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⚠️ 人工确认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3108960"/>
            <a:ext cx="2194560" cy="5029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值班员审核批准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7490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⚡ 执行指令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3749040"/>
            <a:ext cx="2194560" cy="5029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闸控系统动作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38912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➡️ 边侧同步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4389120"/>
            <a:ext cx="2194560" cy="5029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水库数据中心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502920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⬅️ 云端监控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5029200"/>
            <a:ext cx="2194560" cy="50292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省院信息中心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188720"/>
            <a:ext cx="2651760" cy="64008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💡 使用场景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920240"/>
            <a:ext cx="265176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洪水应急调度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人工: 必须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价值: 缩短决策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514600"/>
            <a:ext cx="265176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灌溉配水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人工: 必须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价值: 优化配置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108960"/>
            <a:ext cx="265176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故障诊断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人工: 可选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价值: 预防维护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703320"/>
            <a:ext cx="2651760" cy="5486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异常告警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人工: 必须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价值: 快速响应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4206240"/>
            <a:ext cx="6949440" cy="754380"/>
          </a:xfrm>
          <a:prstGeom prst="rect">
            <a:avLst/>
          </a:prstGeom>
          <a:solidFill>
            <a:srgbClr val="F0F8FF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🤖 AI 负责：数据分析、方案生成、风险预警 | 👤 人负责：最终决策、责任承担 | 🔒 系统：安全阈值保护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961120" cy="77724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Microsoft YaHei"/>
              </a:rPr>
              <a:t>客户侧延伸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水库/灌区的边端协同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4297680" cy="2743200"/>
          </a:xfrm>
          <a:prstGeom prst="round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🔹 边侧（客户数据中心）</a:t>
            </a:r>
            <a:br/>
            <a:br/>
            <a:r>
              <a:rPr sz="1400" b="0">
                <a:solidFill>
                  <a:srgbClr val="1F2937"/>
                </a:solidFill>
                <a:latin typeface="Microsoft YaHei"/>
              </a:rPr>
              <a:t>区域数据汇聚：多水库、多灌区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本地大模型推理：无需上传云端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与省院云端协同：模型更新、知识同步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280160"/>
            <a:ext cx="3977640" cy="2743200"/>
          </a:xfrm>
          <a:prstGeom prst="round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📡 端侧（终端设备）</a:t>
            </a:r>
            <a:br/>
            <a:br/>
            <a:r>
              <a:rPr sz="1400" b="0">
                <a:solidFill>
                  <a:srgbClr val="1F2937"/>
                </a:solidFill>
                <a:latin typeface="Microsoft YaHei"/>
              </a:rPr>
              <a:t>监测设备：水位、雨量、流量计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控制设备：闸门、泵站智能决策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巡检设备：无人机/机器人自主巡护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206240"/>
            <a:ext cx="8412480" cy="754380"/>
          </a:xfrm>
          <a:prstGeom prst="rect">
            <a:avLst/>
          </a:prstGeom>
          <a:solidFill>
            <a:srgbClr val="F8F8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2937"/>
                </a:solidFill>
                <a:latin typeface="Microsoft YaHei"/>
              </a:rPr>
              <a:t>🏆 客户价值：效率 × 质量 × 成本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937760"/>
            <a:ext cx="204597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📊 管理效率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减少人工巡检 60%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731770" y="4937760"/>
            <a:ext cx="204597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💡 决策质量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减少经验依赖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14900" y="4937760"/>
            <a:ext cx="204597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⚡ 响应速度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小时级→分钟级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98030" y="4937760"/>
            <a:ext cx="186309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💰 成本控制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长期运维降 30-40%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961120" cy="777240"/>
          </a:xfrm>
          <a:prstGeom prst="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Microsoft YaHei"/>
              </a:rP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三步走战略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solidFill>
            <a:srgbClr val="F8F8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2937"/>
                </a:solidFill>
                <a:latin typeface="Microsoft YaHei"/>
              </a:rPr>
              <a:t>🎯 核心共识：端云结合是水利设计院智能化的必由之路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2377440" cy="23774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第一阶段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2026 Q2-Q3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搭建框架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私有化大模型部署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国产算力适配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1-2 个试点场景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2286000"/>
            <a:ext cx="2377440" cy="23774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第二阶段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2026 Q4-2027 Q1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场景落地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智能设计上线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闸门 Agent 试点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设计师培训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2286000"/>
            <a:ext cx="2377440" cy="2377440"/>
          </a:xfrm>
          <a:prstGeom prst="rect">
            <a:avLst/>
          </a:prstGeom>
          <a:solidFill>
            <a:srgbClr val="F5F5F5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第三阶段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2027 Q2 起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规模推广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80% 业务覆盖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客户端推广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行业标准制定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937760"/>
            <a:ext cx="6400800" cy="1005840"/>
          </a:xfrm>
          <a:prstGeom prst="rect">
            <a:avLst/>
          </a:prstGeom>
          <a:solidFill>
            <a:srgbClr val="E6F0FF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F2937"/>
                </a:solidFill>
                <a:latin typeface="Microsoft YaHei"/>
              </a:rPr>
              <a:t>🌍 愿景：让 AI Agent 成为水利设计师的智能助手，而非替代者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